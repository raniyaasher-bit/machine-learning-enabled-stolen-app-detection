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59" r:id="rId5"/>
    <p:sldId id="260" r:id="rId6"/>
    <p:sldId id="279" r:id="rId7"/>
    <p:sldId id="263" r:id="rId8"/>
    <p:sldId id="281" r:id="rId9"/>
    <p:sldId id="266" r:id="rId10"/>
    <p:sldId id="267" r:id="rId11"/>
    <p:sldId id="28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0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38A89-A4A1-31AA-76F2-B8EDECE1B1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3C73F2-CB46-A7E8-B969-32DA353170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6EB1B4-E990-6EE8-2210-0EB30DA6B862}"/>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5" name="Footer Placeholder 4">
            <a:extLst>
              <a:ext uri="{FF2B5EF4-FFF2-40B4-BE49-F238E27FC236}">
                <a16:creationId xmlns:a16="http://schemas.microsoft.com/office/drawing/2014/main" id="{DD61C72D-C8D3-8460-B4D8-A46F161DA6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3E9B7A-0973-DF3E-76F7-3DBA19B4A12C}"/>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306504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6388-93A8-88E5-A4D1-738E39D2FA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8704C4-4256-95B5-ABF5-9BC4DB0945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4B3F17-35E1-96E9-47BF-8D132177B422}"/>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5" name="Footer Placeholder 4">
            <a:extLst>
              <a:ext uri="{FF2B5EF4-FFF2-40B4-BE49-F238E27FC236}">
                <a16:creationId xmlns:a16="http://schemas.microsoft.com/office/drawing/2014/main" id="{2B2C98EE-BBEB-CA2F-083A-DAE8260D46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2E7177-00CB-A8B0-4143-5D2FDE55143F}"/>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72838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76184-8FC8-DB44-E105-B4A010E686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0F2510-3BBE-7DDA-E483-71BD83E4C5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ADE0D4-F7C7-E2A5-3BAF-53D4592EB694}"/>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5" name="Footer Placeholder 4">
            <a:extLst>
              <a:ext uri="{FF2B5EF4-FFF2-40B4-BE49-F238E27FC236}">
                <a16:creationId xmlns:a16="http://schemas.microsoft.com/office/drawing/2014/main" id="{2CE6E4CC-146A-0C66-02DC-2E74BC73E5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61D3A8-9ECE-D1C7-1DAB-18FAB978D68F}"/>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1110490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59866-8B70-9799-62C8-27510D06C9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E80CF8-78F2-3A1F-DCDD-E944DF74E0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F9685B-5C4F-168A-0925-45C51BFF72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210E53-BA46-69A9-9BB5-1ED92BFC0DF3}"/>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6" name="Footer Placeholder 5">
            <a:extLst>
              <a:ext uri="{FF2B5EF4-FFF2-40B4-BE49-F238E27FC236}">
                <a16:creationId xmlns:a16="http://schemas.microsoft.com/office/drawing/2014/main" id="{288FB166-67B5-690A-6064-10B62DCB96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FFAA11-1F32-0101-6CC1-273A38B99D0A}"/>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1439154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90EB9-8804-471F-B80C-682147212A4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00FDC2-F30F-905D-7152-1332C2098F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FB406D-08EB-A0CB-2C90-BE578408FC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E7F38A-903D-A06D-0B36-00B8346686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69D89F-169E-5E50-7028-F942513B6F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C33BDA-6FD7-7654-7973-E24ECAABDC76}"/>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8" name="Footer Placeholder 7">
            <a:extLst>
              <a:ext uri="{FF2B5EF4-FFF2-40B4-BE49-F238E27FC236}">
                <a16:creationId xmlns:a16="http://schemas.microsoft.com/office/drawing/2014/main" id="{01172850-FED0-1D19-B332-01828D7222C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EF8122-E212-B83E-E846-88ABDC20D12D}"/>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2870860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3D73E-554F-4F05-9FDB-CE81D9FC83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28FC63-27B4-E156-5D84-1B6093168F39}"/>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4" name="Footer Placeholder 3">
            <a:extLst>
              <a:ext uri="{FF2B5EF4-FFF2-40B4-BE49-F238E27FC236}">
                <a16:creationId xmlns:a16="http://schemas.microsoft.com/office/drawing/2014/main" id="{D1388CD5-4970-A41B-F461-49FBB5E4FC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62E476-2AA8-91A4-29E8-53B430078A4C}"/>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3778284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D2DB3E-F813-1A28-46D1-2AB4B39B0844}"/>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3" name="Footer Placeholder 2">
            <a:extLst>
              <a:ext uri="{FF2B5EF4-FFF2-40B4-BE49-F238E27FC236}">
                <a16:creationId xmlns:a16="http://schemas.microsoft.com/office/drawing/2014/main" id="{9C47BF06-1D86-CED7-F4BA-07F50DF40A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94CE4E-FFFB-7A2B-424A-491C595F70E3}"/>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4171552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CDAD-8BD2-6BBB-B565-D0649A82B7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BD92EF-5911-2065-B4A1-40D7F970F2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9FD34BC-0ADF-1BA0-971C-23D54E711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792E3B-4BD5-9D65-0424-A8B4A1F5D175}"/>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6" name="Footer Placeholder 5">
            <a:extLst>
              <a:ext uri="{FF2B5EF4-FFF2-40B4-BE49-F238E27FC236}">
                <a16:creationId xmlns:a16="http://schemas.microsoft.com/office/drawing/2014/main" id="{03709E4D-3155-C815-C771-A999D91B16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9E818C-41E9-3BB9-82AA-F3EB2AF72CE2}"/>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917254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57C2-C281-8C4A-0A79-DF37CE6F6D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672919-7338-3224-1C93-BB5A203A4E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B0D0A9-0E68-7E7D-7B3D-C344A04578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0B31DD-D683-0F22-4346-096A94264F8D}"/>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6" name="Footer Placeholder 5">
            <a:extLst>
              <a:ext uri="{FF2B5EF4-FFF2-40B4-BE49-F238E27FC236}">
                <a16:creationId xmlns:a16="http://schemas.microsoft.com/office/drawing/2014/main" id="{8ABD4B56-2ABB-9224-AC6C-206AE60F17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858004-BBE6-1AAC-A891-AB4DB2BC97D2}"/>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3481564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D90B-15B7-BC41-DD2D-445C9BD042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040E1C-89AF-2C3E-696C-1569B1025D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3457FB-366F-1BDA-9A4F-AD56BE562C6C}"/>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5" name="Footer Placeholder 4">
            <a:extLst>
              <a:ext uri="{FF2B5EF4-FFF2-40B4-BE49-F238E27FC236}">
                <a16:creationId xmlns:a16="http://schemas.microsoft.com/office/drawing/2014/main" id="{3781AE6C-0FFC-7F82-9E50-C44C3106FD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04DBF2-E072-06CC-ADD8-74138C784E06}"/>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3224475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18604F-60B5-E127-DDC4-192F8FC5A0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C3368A-74D2-1C3F-DA8B-380A10835C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661C5B-3A30-DD4A-4468-7F15D0CEDD34}"/>
              </a:ext>
            </a:extLst>
          </p:cNvPr>
          <p:cNvSpPr>
            <a:spLocks noGrp="1"/>
          </p:cNvSpPr>
          <p:nvPr>
            <p:ph type="dt" sz="half" idx="10"/>
          </p:nvPr>
        </p:nvSpPr>
        <p:spPr/>
        <p:txBody>
          <a:bodyPr/>
          <a:lstStyle/>
          <a:p>
            <a:fld id="{13742051-DDAD-4270-B191-59AE72E1C1D4}" type="datetimeFigureOut">
              <a:rPr lang="en-IN" smtClean="0"/>
              <a:t>10-01-2026</a:t>
            </a:fld>
            <a:endParaRPr lang="en-IN"/>
          </a:p>
        </p:txBody>
      </p:sp>
      <p:sp>
        <p:nvSpPr>
          <p:cNvPr id="5" name="Footer Placeholder 4">
            <a:extLst>
              <a:ext uri="{FF2B5EF4-FFF2-40B4-BE49-F238E27FC236}">
                <a16:creationId xmlns:a16="http://schemas.microsoft.com/office/drawing/2014/main" id="{6EE0E105-E950-7FDD-1CA6-08E8D9CCD1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D81DB0-B128-C14F-B4F5-BE3ED487920F}"/>
              </a:ext>
            </a:extLst>
          </p:cNvPr>
          <p:cNvSpPr>
            <a:spLocks noGrp="1"/>
          </p:cNvSpPr>
          <p:nvPr>
            <p:ph type="sldNum" sz="quarter" idx="12"/>
          </p:nvPr>
        </p:nvSpPr>
        <p:spPr/>
        <p:txBody>
          <a:bodyPr/>
          <a:lstStyle/>
          <a:p>
            <a:fld id="{860A72F7-78D8-442C-82F2-607DC4841F2B}" type="slidenum">
              <a:rPr lang="en-IN" smtClean="0"/>
              <a:t>‹#›</a:t>
            </a:fld>
            <a:endParaRPr lang="en-IN"/>
          </a:p>
        </p:txBody>
      </p:sp>
    </p:spTree>
    <p:extLst>
      <p:ext uri="{BB962C8B-B14F-4D97-AF65-F5344CB8AC3E}">
        <p14:creationId xmlns:p14="http://schemas.microsoft.com/office/powerpoint/2010/main" val="1856953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3B7F8F-B773-875C-7A6E-34415FF248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B0D235-3980-8543-57FC-1BFAFE0797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9AC21A-3BEF-2DD6-A1B2-7474FD71A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42051-DDAD-4270-B191-59AE72E1C1D4}" type="datetimeFigureOut">
              <a:rPr lang="en-IN" smtClean="0"/>
              <a:t>10-01-2026</a:t>
            </a:fld>
            <a:endParaRPr lang="en-IN"/>
          </a:p>
        </p:txBody>
      </p:sp>
      <p:sp>
        <p:nvSpPr>
          <p:cNvPr id="5" name="Footer Placeholder 4">
            <a:extLst>
              <a:ext uri="{FF2B5EF4-FFF2-40B4-BE49-F238E27FC236}">
                <a16:creationId xmlns:a16="http://schemas.microsoft.com/office/drawing/2014/main" id="{9094E12D-96A5-A943-F511-B9D636EA9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D89276-853F-881A-71F9-CFEE4293BD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0A72F7-78D8-442C-82F2-607DC4841F2B}" type="slidenum">
              <a:rPr lang="en-IN" smtClean="0"/>
              <a:t>‹#›</a:t>
            </a:fld>
            <a:endParaRPr lang="en-IN"/>
          </a:p>
        </p:txBody>
      </p:sp>
    </p:spTree>
    <p:extLst>
      <p:ext uri="{BB962C8B-B14F-4D97-AF65-F5344CB8AC3E}">
        <p14:creationId xmlns:p14="http://schemas.microsoft.com/office/powerpoint/2010/main" val="1729144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0CD0-4125-65CA-04D5-C0314C8CB6B3}"/>
              </a:ext>
            </a:extLst>
          </p:cNvPr>
          <p:cNvSpPr>
            <a:spLocks noGrp="1"/>
          </p:cNvSpPr>
          <p:nvPr>
            <p:ph type="ctrTitle"/>
          </p:nvPr>
        </p:nvSpPr>
        <p:spPr>
          <a:xfrm>
            <a:off x="0" y="1093076"/>
            <a:ext cx="12192000" cy="3636579"/>
          </a:xfrm>
        </p:spPr>
        <p:txBody>
          <a:bodyPr>
            <a:normAutofit/>
          </a:bodyPr>
          <a:lstStyle/>
          <a:p>
            <a:r>
              <a:rPr lang="en-US" sz="4000" b="1" dirty="0"/>
              <a:t>Machine Learning Enabled Stolen App Detection Framework Employing Decision Tree Models on App Metadata &amp; Behavioral Features for Proactive Security Measures</a:t>
            </a:r>
            <a:br>
              <a:rPr lang="en-US" sz="4000" dirty="0"/>
            </a:br>
            <a:br>
              <a:rPr lang="en-US" sz="4000" dirty="0"/>
            </a:br>
            <a:endParaRPr lang="en-IN" sz="4000" b="1" dirty="0"/>
          </a:p>
        </p:txBody>
      </p:sp>
    </p:spTree>
    <p:extLst>
      <p:ext uri="{BB962C8B-B14F-4D97-AF65-F5344CB8AC3E}">
        <p14:creationId xmlns:p14="http://schemas.microsoft.com/office/powerpoint/2010/main" val="161793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6A067-B51D-BFF7-5369-991FAAFC0A37}"/>
              </a:ext>
            </a:extLst>
          </p:cNvPr>
          <p:cNvSpPr>
            <a:spLocks noGrp="1"/>
          </p:cNvSpPr>
          <p:nvPr>
            <p:ph type="title"/>
          </p:nvPr>
        </p:nvSpPr>
        <p:spPr>
          <a:xfrm>
            <a:off x="0" y="0"/>
            <a:ext cx="12192000" cy="1629104"/>
          </a:xfrm>
        </p:spPr>
        <p:txBody>
          <a:bodyPr/>
          <a:lstStyle/>
          <a:p>
            <a:r>
              <a:rPr lang="en-IN" dirty="0">
                <a:solidFill>
                  <a:schemeClr val="accent1"/>
                </a:solidFill>
              </a:rPr>
              <a:t>Abstract</a:t>
            </a:r>
          </a:p>
        </p:txBody>
      </p:sp>
      <p:sp>
        <p:nvSpPr>
          <p:cNvPr id="3" name="Content Placeholder 2">
            <a:extLst>
              <a:ext uri="{FF2B5EF4-FFF2-40B4-BE49-F238E27FC236}">
                <a16:creationId xmlns:a16="http://schemas.microsoft.com/office/drawing/2014/main" id="{04DC80CA-609D-527B-2443-3DC949B385DA}"/>
              </a:ext>
            </a:extLst>
          </p:cNvPr>
          <p:cNvSpPr>
            <a:spLocks noGrp="1"/>
          </p:cNvSpPr>
          <p:nvPr>
            <p:ph idx="1"/>
          </p:nvPr>
        </p:nvSpPr>
        <p:spPr>
          <a:xfrm>
            <a:off x="0" y="1250731"/>
            <a:ext cx="12192000" cy="4519448"/>
          </a:xfrm>
        </p:spPr>
        <p:txBody>
          <a:bodyPr>
            <a:normAutofit/>
          </a:bodyPr>
          <a:lstStyle/>
          <a:p>
            <a:r>
              <a:rPr lang="en-US" dirty="0"/>
              <a:t>With the increasing use of mobile applications, app theft and unauthorized redistribution have become significant security challenges. Stolen or repackaged applications often contain malicious code, violate intellectual property rights, and pose security risks to users. Traditional detection mechanisms rely on manual inspection or signature-based methods, which are ineffective against sophisticated repackaging techniques. This project proposes a machine learning-enabled stolen app detection framework that employs Decision Tree models to analyze app metadata and behavioral features. By learning patterns that distinguish legitimate apps from stolen or repackaged ones, the system enables proactive detection and enhances mobile application security.</a:t>
            </a:r>
          </a:p>
          <a:p>
            <a:endParaRPr lang="en-IN" dirty="0"/>
          </a:p>
        </p:txBody>
      </p:sp>
    </p:spTree>
    <p:extLst>
      <p:ext uri="{BB962C8B-B14F-4D97-AF65-F5344CB8AC3E}">
        <p14:creationId xmlns:p14="http://schemas.microsoft.com/office/powerpoint/2010/main" val="1216180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9052-B455-2072-2CE7-CABA10E02481}"/>
              </a:ext>
            </a:extLst>
          </p:cNvPr>
          <p:cNvSpPr>
            <a:spLocks noGrp="1"/>
          </p:cNvSpPr>
          <p:nvPr>
            <p:ph type="title"/>
          </p:nvPr>
        </p:nvSpPr>
        <p:spPr>
          <a:xfrm>
            <a:off x="0" y="-1"/>
            <a:ext cx="12192000" cy="1156139"/>
          </a:xfrm>
        </p:spPr>
        <p:txBody>
          <a:bodyPr/>
          <a:lstStyle/>
          <a:p>
            <a:r>
              <a:rPr lang="en-IN" dirty="0">
                <a:solidFill>
                  <a:schemeClr val="accent1"/>
                </a:solidFill>
              </a:rPr>
              <a:t>Objective</a:t>
            </a:r>
          </a:p>
        </p:txBody>
      </p:sp>
      <p:sp>
        <p:nvSpPr>
          <p:cNvPr id="3" name="Content Placeholder 2">
            <a:extLst>
              <a:ext uri="{FF2B5EF4-FFF2-40B4-BE49-F238E27FC236}">
                <a16:creationId xmlns:a16="http://schemas.microsoft.com/office/drawing/2014/main" id="{AB2DEF8F-8F5D-8F51-A84A-099048FCCAF3}"/>
              </a:ext>
            </a:extLst>
          </p:cNvPr>
          <p:cNvSpPr>
            <a:spLocks noGrp="1"/>
          </p:cNvSpPr>
          <p:nvPr>
            <p:ph idx="1"/>
          </p:nvPr>
        </p:nvSpPr>
        <p:spPr>
          <a:xfrm>
            <a:off x="0" y="1156138"/>
            <a:ext cx="10515600" cy="4351338"/>
          </a:xfrm>
        </p:spPr>
        <p:txBody>
          <a:bodyPr/>
          <a:lstStyle/>
          <a:p>
            <a:pPr marL="0" indent="0">
              <a:buNone/>
            </a:pPr>
            <a:r>
              <a:rPr lang="en-US" dirty="0"/>
              <a:t>The main objectives of the proposed system are:</a:t>
            </a:r>
          </a:p>
          <a:p>
            <a:r>
              <a:rPr lang="en-US" dirty="0"/>
              <a:t>To detect stolen or repackaged mobile applications using machine learning.</a:t>
            </a:r>
          </a:p>
          <a:p>
            <a:r>
              <a:rPr lang="en-US" dirty="0"/>
              <a:t>To analyze app metadata and behavioral features for classification.</a:t>
            </a:r>
          </a:p>
          <a:p>
            <a:r>
              <a:rPr lang="en-US" dirty="0"/>
              <a:t>To employ Decision Tree models for explainable detection.</a:t>
            </a:r>
          </a:p>
          <a:p>
            <a:r>
              <a:rPr lang="en-US" dirty="0"/>
              <a:t>To provide proactive security measures against app piracy.</a:t>
            </a:r>
          </a:p>
          <a:p>
            <a:r>
              <a:rPr lang="en-US" dirty="0"/>
              <a:t>To protect intellectual property and user security</a:t>
            </a:r>
          </a:p>
          <a:p>
            <a:endParaRPr lang="en-IN" dirty="0"/>
          </a:p>
        </p:txBody>
      </p:sp>
    </p:spTree>
    <p:extLst>
      <p:ext uri="{BB962C8B-B14F-4D97-AF65-F5344CB8AC3E}">
        <p14:creationId xmlns:p14="http://schemas.microsoft.com/office/powerpoint/2010/main" val="1069328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FD4C-5429-835E-DEEF-D9E5E1FF3900}"/>
              </a:ext>
            </a:extLst>
          </p:cNvPr>
          <p:cNvSpPr>
            <a:spLocks noGrp="1"/>
          </p:cNvSpPr>
          <p:nvPr>
            <p:ph type="title"/>
          </p:nvPr>
        </p:nvSpPr>
        <p:spPr>
          <a:xfrm>
            <a:off x="0" y="2"/>
            <a:ext cx="12192000" cy="1187668"/>
          </a:xfrm>
        </p:spPr>
        <p:txBody>
          <a:bodyPr/>
          <a:lstStyle/>
          <a:p>
            <a:r>
              <a:rPr lang="en-IN" dirty="0">
                <a:solidFill>
                  <a:schemeClr val="accent1"/>
                </a:solidFill>
              </a:rPr>
              <a:t>Introduction</a:t>
            </a:r>
          </a:p>
        </p:txBody>
      </p:sp>
      <p:sp>
        <p:nvSpPr>
          <p:cNvPr id="3" name="Content Placeholder 2">
            <a:extLst>
              <a:ext uri="{FF2B5EF4-FFF2-40B4-BE49-F238E27FC236}">
                <a16:creationId xmlns:a16="http://schemas.microsoft.com/office/drawing/2014/main" id="{FCD915ED-0372-6918-A670-B138C37480DB}"/>
              </a:ext>
            </a:extLst>
          </p:cNvPr>
          <p:cNvSpPr>
            <a:spLocks noGrp="1"/>
          </p:cNvSpPr>
          <p:nvPr>
            <p:ph idx="1"/>
          </p:nvPr>
        </p:nvSpPr>
        <p:spPr>
          <a:xfrm>
            <a:off x="-1" y="1072056"/>
            <a:ext cx="12192000" cy="3899338"/>
          </a:xfrm>
        </p:spPr>
        <p:txBody>
          <a:bodyPr>
            <a:normAutofit/>
          </a:bodyPr>
          <a:lstStyle/>
          <a:p>
            <a:r>
              <a:rPr lang="en-US" dirty="0"/>
              <a:t>Mobile applications are frequently targeted for theft through repackaging, where attackers modify and redistribute legitimate apps with malicious payloads. Such stolen apps threaten both developers and users by violating copyrights and compromising device security. Existing detection methods struggle to adapt to evolving repackaging techniques. Machine learning offers an effective approach to analyze complex feature patterns within apps. This project introduces an intelligent framework that leverages Decision Tree models to detect stolen applications by examining metadata and runtime behavior, ensuring proactive and automated security.</a:t>
            </a:r>
          </a:p>
          <a:p>
            <a:endParaRPr lang="en-IN" dirty="0"/>
          </a:p>
        </p:txBody>
      </p:sp>
    </p:spTree>
    <p:extLst>
      <p:ext uri="{BB962C8B-B14F-4D97-AF65-F5344CB8AC3E}">
        <p14:creationId xmlns:p14="http://schemas.microsoft.com/office/powerpoint/2010/main" val="1978256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AB2D-5739-EDAC-6F71-E43DD7354D23}"/>
              </a:ext>
            </a:extLst>
          </p:cNvPr>
          <p:cNvSpPr>
            <a:spLocks noGrp="1"/>
          </p:cNvSpPr>
          <p:nvPr>
            <p:ph type="title"/>
          </p:nvPr>
        </p:nvSpPr>
        <p:spPr>
          <a:xfrm>
            <a:off x="0" y="1"/>
            <a:ext cx="12192000" cy="1040523"/>
          </a:xfrm>
        </p:spPr>
        <p:txBody>
          <a:bodyPr>
            <a:normAutofit/>
          </a:bodyPr>
          <a:lstStyle/>
          <a:p>
            <a:r>
              <a:rPr lang="en-IN" dirty="0">
                <a:solidFill>
                  <a:schemeClr val="accent1"/>
                </a:solidFill>
              </a:rPr>
              <a:t>Existing System</a:t>
            </a:r>
            <a:endParaRPr lang="en-US" dirty="0">
              <a:solidFill>
                <a:schemeClr val="accent1"/>
              </a:solidFill>
            </a:endParaRPr>
          </a:p>
        </p:txBody>
      </p:sp>
      <p:sp>
        <p:nvSpPr>
          <p:cNvPr id="3" name="Content Placeholder 2">
            <a:extLst>
              <a:ext uri="{FF2B5EF4-FFF2-40B4-BE49-F238E27FC236}">
                <a16:creationId xmlns:a16="http://schemas.microsoft.com/office/drawing/2014/main" id="{0873DBBC-7270-58B3-5591-6C597000F829}"/>
              </a:ext>
            </a:extLst>
          </p:cNvPr>
          <p:cNvSpPr>
            <a:spLocks noGrp="1"/>
          </p:cNvSpPr>
          <p:nvPr>
            <p:ph idx="1"/>
          </p:nvPr>
        </p:nvSpPr>
        <p:spPr>
          <a:xfrm>
            <a:off x="-1" y="1040525"/>
            <a:ext cx="12191999" cy="2388475"/>
          </a:xfrm>
        </p:spPr>
        <p:txBody>
          <a:bodyPr/>
          <a:lstStyle/>
          <a:p>
            <a:pPr marL="0" indent="0">
              <a:buNone/>
            </a:pPr>
            <a:r>
              <a:rPr lang="en-US" dirty="0"/>
              <a:t>The existing stolen app detection systems mainly use:</a:t>
            </a:r>
          </a:p>
          <a:p>
            <a:r>
              <a:rPr lang="en-US" dirty="0"/>
              <a:t>Signature-based detection</a:t>
            </a:r>
          </a:p>
          <a:p>
            <a:r>
              <a:rPr lang="en-US" dirty="0"/>
              <a:t>Hash comparison techniques</a:t>
            </a:r>
          </a:p>
          <a:p>
            <a:r>
              <a:rPr lang="en-US" dirty="0"/>
              <a:t>Manual code inspection</a:t>
            </a:r>
          </a:p>
          <a:p>
            <a:endParaRPr lang="en-IN" dirty="0"/>
          </a:p>
        </p:txBody>
      </p:sp>
    </p:spTree>
    <p:extLst>
      <p:ext uri="{BB962C8B-B14F-4D97-AF65-F5344CB8AC3E}">
        <p14:creationId xmlns:p14="http://schemas.microsoft.com/office/powerpoint/2010/main" val="2622648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D5A30-236D-440D-A2E9-941BE991E109}"/>
              </a:ext>
            </a:extLst>
          </p:cNvPr>
          <p:cNvSpPr>
            <a:spLocks noGrp="1"/>
          </p:cNvSpPr>
          <p:nvPr>
            <p:ph type="title"/>
          </p:nvPr>
        </p:nvSpPr>
        <p:spPr>
          <a:xfrm>
            <a:off x="84082" y="1"/>
            <a:ext cx="12107918" cy="1219199"/>
          </a:xfrm>
        </p:spPr>
        <p:txBody>
          <a:bodyPr/>
          <a:lstStyle/>
          <a:p>
            <a:r>
              <a:rPr lang="en-IN" dirty="0">
                <a:solidFill>
                  <a:schemeClr val="accent1"/>
                </a:solidFill>
              </a:rPr>
              <a:t>Disadvantages of Existing System</a:t>
            </a:r>
          </a:p>
        </p:txBody>
      </p:sp>
      <p:sp>
        <p:nvSpPr>
          <p:cNvPr id="3" name="Content Placeholder 2">
            <a:extLst>
              <a:ext uri="{FF2B5EF4-FFF2-40B4-BE49-F238E27FC236}">
                <a16:creationId xmlns:a16="http://schemas.microsoft.com/office/drawing/2014/main" id="{13CA5786-5B39-0438-D2D8-A01180BFCFF3}"/>
              </a:ext>
            </a:extLst>
          </p:cNvPr>
          <p:cNvSpPr>
            <a:spLocks noGrp="1"/>
          </p:cNvSpPr>
          <p:nvPr>
            <p:ph idx="1"/>
          </p:nvPr>
        </p:nvSpPr>
        <p:spPr>
          <a:xfrm>
            <a:off x="1" y="1219200"/>
            <a:ext cx="11353800" cy="4957763"/>
          </a:xfrm>
        </p:spPr>
        <p:txBody>
          <a:bodyPr/>
          <a:lstStyle/>
          <a:p>
            <a:r>
              <a:rPr lang="en-US" dirty="0"/>
              <a:t>Ineffective against obfuscated or modified apps.</a:t>
            </a:r>
          </a:p>
          <a:p>
            <a:r>
              <a:rPr lang="en-US" dirty="0"/>
              <a:t>Requires manual updates and expert intervention.</a:t>
            </a:r>
          </a:p>
          <a:p>
            <a:r>
              <a:rPr lang="en-US" dirty="0"/>
              <a:t>High false positives and negatives.</a:t>
            </a:r>
          </a:p>
          <a:p>
            <a:r>
              <a:rPr lang="en-US" dirty="0"/>
              <a:t>Limited scalability.</a:t>
            </a:r>
          </a:p>
          <a:p>
            <a:r>
              <a:rPr lang="en-US" dirty="0"/>
              <a:t>Cannot detect zero-day repackaged apps.</a:t>
            </a:r>
          </a:p>
          <a:p>
            <a:pPr marL="0" lvl="0" indent="0" eaLnBrk="0" fontAlgn="base" hangingPunct="0">
              <a:lnSpc>
                <a:spcPct val="100000"/>
              </a:lnSpc>
              <a:spcBef>
                <a:spcPct val="0"/>
              </a:spcBef>
              <a:spcAft>
                <a:spcPct val="0"/>
              </a:spcAft>
              <a:buFontTx/>
              <a:buChar char="•"/>
            </a:pPr>
            <a:endParaRPr lang="en-IN" dirty="0"/>
          </a:p>
        </p:txBody>
      </p:sp>
    </p:spTree>
    <p:extLst>
      <p:ext uri="{BB962C8B-B14F-4D97-AF65-F5344CB8AC3E}">
        <p14:creationId xmlns:p14="http://schemas.microsoft.com/office/powerpoint/2010/main" val="5122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56D80-BDED-A646-11CE-D4A117B445EA}"/>
              </a:ext>
            </a:extLst>
          </p:cNvPr>
          <p:cNvSpPr>
            <a:spLocks noGrp="1"/>
          </p:cNvSpPr>
          <p:nvPr>
            <p:ph type="title"/>
          </p:nvPr>
        </p:nvSpPr>
        <p:spPr>
          <a:xfrm>
            <a:off x="0" y="1"/>
            <a:ext cx="12192000" cy="1282261"/>
          </a:xfrm>
        </p:spPr>
        <p:txBody>
          <a:bodyPr/>
          <a:lstStyle/>
          <a:p>
            <a:r>
              <a:rPr lang="en-IN" dirty="0">
                <a:solidFill>
                  <a:schemeClr val="accent1"/>
                </a:solidFill>
              </a:rPr>
              <a:t>Proposed System</a:t>
            </a:r>
          </a:p>
        </p:txBody>
      </p:sp>
      <p:sp>
        <p:nvSpPr>
          <p:cNvPr id="3" name="Content Placeholder 2">
            <a:extLst>
              <a:ext uri="{FF2B5EF4-FFF2-40B4-BE49-F238E27FC236}">
                <a16:creationId xmlns:a16="http://schemas.microsoft.com/office/drawing/2014/main" id="{2128219A-9F9F-2B14-1569-479405BBF1D9}"/>
              </a:ext>
            </a:extLst>
          </p:cNvPr>
          <p:cNvSpPr>
            <a:spLocks noGrp="1"/>
          </p:cNvSpPr>
          <p:nvPr>
            <p:ph idx="1"/>
          </p:nvPr>
        </p:nvSpPr>
        <p:spPr>
          <a:xfrm>
            <a:off x="-1" y="966952"/>
            <a:ext cx="12191999" cy="5210011"/>
          </a:xfrm>
        </p:spPr>
        <p:txBody>
          <a:bodyPr/>
          <a:lstStyle/>
          <a:p>
            <a:r>
              <a:rPr lang="en-US" dirty="0"/>
              <a:t>The proposed system utilizes machine learning-based Decision Tree models to identify stolen applications. App metadata such as package name, developer signature, permissions, and version details are extracted, along with behavioral features like API calls, network access, and file operations. After preprocessing and feature selection, Decision Tree classifiers are trained to distinguish legitimate apps from stolen ones. The system provides explainable detection results and enables proactive security measures such as alerting, blocking, or reporting suspicious apps.</a:t>
            </a:r>
            <a:endParaRPr lang="en-IN" dirty="0"/>
          </a:p>
        </p:txBody>
      </p:sp>
    </p:spTree>
    <p:extLst>
      <p:ext uri="{BB962C8B-B14F-4D97-AF65-F5344CB8AC3E}">
        <p14:creationId xmlns:p14="http://schemas.microsoft.com/office/powerpoint/2010/main" val="2644088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AE8E8-AF3F-7757-0828-11B3CED70FDA}"/>
              </a:ext>
            </a:extLst>
          </p:cNvPr>
          <p:cNvSpPr>
            <a:spLocks noGrp="1"/>
          </p:cNvSpPr>
          <p:nvPr>
            <p:ph type="title"/>
          </p:nvPr>
        </p:nvSpPr>
        <p:spPr>
          <a:xfrm>
            <a:off x="0" y="1"/>
            <a:ext cx="12192000" cy="1208689"/>
          </a:xfrm>
        </p:spPr>
        <p:txBody>
          <a:bodyPr/>
          <a:lstStyle/>
          <a:p>
            <a:r>
              <a:rPr lang="en-IN" dirty="0">
                <a:solidFill>
                  <a:schemeClr val="accent1"/>
                </a:solidFill>
              </a:rPr>
              <a:t>Advantages of Proposed System</a:t>
            </a:r>
          </a:p>
        </p:txBody>
      </p:sp>
      <p:sp>
        <p:nvSpPr>
          <p:cNvPr id="3" name="Content Placeholder 2">
            <a:extLst>
              <a:ext uri="{FF2B5EF4-FFF2-40B4-BE49-F238E27FC236}">
                <a16:creationId xmlns:a16="http://schemas.microsoft.com/office/drawing/2014/main" id="{89D0D0DD-182F-4CAB-6709-E6178A8B7485}"/>
              </a:ext>
            </a:extLst>
          </p:cNvPr>
          <p:cNvSpPr>
            <a:spLocks noGrp="1"/>
          </p:cNvSpPr>
          <p:nvPr>
            <p:ph idx="1"/>
          </p:nvPr>
        </p:nvSpPr>
        <p:spPr>
          <a:xfrm>
            <a:off x="0" y="1093076"/>
            <a:ext cx="11353800" cy="5083887"/>
          </a:xfrm>
        </p:spPr>
        <p:txBody>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Accurate detection of stolen and repackaged apps.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Explainable machine learning decisions.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Automated and scalable framework.</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Proactive security response.</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Reduces intellectual property theft.</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Enhances user and ecosystem security.</a:t>
            </a:r>
          </a:p>
          <a:p>
            <a:endParaRPr lang="en-IN" dirty="0"/>
          </a:p>
        </p:txBody>
      </p:sp>
    </p:spTree>
    <p:extLst>
      <p:ext uri="{BB962C8B-B14F-4D97-AF65-F5344CB8AC3E}">
        <p14:creationId xmlns:p14="http://schemas.microsoft.com/office/powerpoint/2010/main" val="697024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1F92-77A3-14D0-4643-1C48A9462818}"/>
              </a:ext>
            </a:extLst>
          </p:cNvPr>
          <p:cNvSpPr>
            <a:spLocks noGrp="1"/>
          </p:cNvSpPr>
          <p:nvPr>
            <p:ph type="title"/>
          </p:nvPr>
        </p:nvSpPr>
        <p:spPr>
          <a:xfrm>
            <a:off x="0" y="1"/>
            <a:ext cx="12192000" cy="1219199"/>
          </a:xfrm>
        </p:spPr>
        <p:txBody>
          <a:bodyPr/>
          <a:lstStyle/>
          <a:p>
            <a:r>
              <a:rPr lang="en-IN" dirty="0">
                <a:solidFill>
                  <a:schemeClr val="accent1"/>
                </a:solidFill>
              </a:rPr>
              <a:t>System Architecture</a:t>
            </a:r>
          </a:p>
        </p:txBody>
      </p:sp>
      <p:pic>
        <p:nvPicPr>
          <p:cNvPr id="5" name="Content Placeholder 4">
            <a:extLst>
              <a:ext uri="{FF2B5EF4-FFF2-40B4-BE49-F238E27FC236}">
                <a16:creationId xmlns:a16="http://schemas.microsoft.com/office/drawing/2014/main" id="{C6412C7D-CBE4-D15C-4A0D-480ADD8726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56042"/>
            <a:ext cx="12192000" cy="5501958"/>
          </a:xfrm>
        </p:spPr>
      </p:pic>
    </p:spTree>
    <p:extLst>
      <p:ext uri="{BB962C8B-B14F-4D97-AF65-F5344CB8AC3E}">
        <p14:creationId xmlns:p14="http://schemas.microsoft.com/office/powerpoint/2010/main" val="45939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2D6E-42A3-5FB3-CEDF-18E3C0052622}"/>
              </a:ext>
            </a:extLst>
          </p:cNvPr>
          <p:cNvSpPr>
            <a:spLocks noGrp="1"/>
          </p:cNvSpPr>
          <p:nvPr>
            <p:ph type="title"/>
          </p:nvPr>
        </p:nvSpPr>
        <p:spPr>
          <a:xfrm>
            <a:off x="0" y="1"/>
            <a:ext cx="12192000" cy="1292771"/>
          </a:xfrm>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7A01BA9C-E997-04F2-24DC-6C27EEAA6E5E}"/>
              </a:ext>
            </a:extLst>
          </p:cNvPr>
          <p:cNvSpPr>
            <a:spLocks noGrp="1"/>
          </p:cNvSpPr>
          <p:nvPr>
            <p:ph idx="1"/>
          </p:nvPr>
        </p:nvSpPr>
        <p:spPr>
          <a:xfrm>
            <a:off x="0" y="1187669"/>
            <a:ext cx="12192000" cy="5670330"/>
          </a:xfrm>
        </p:spPr>
        <p:txBody>
          <a:bodyPr/>
          <a:lstStyle/>
          <a:p>
            <a:r>
              <a:rPr lang="en-US" dirty="0"/>
              <a:t>The machine learning-enabled stolen app detection framework effectively addresses the limitations of traditional detection methods by leveraging Decision Tree models and app metadata with behavioral features. The system provides proactive, accurate, and explainable detection of stolen applications, protecting both developers and users. Future work may include ensemble learning, deep learning-based feature extraction, and integration with app store security systems for large-scale deployment.</a:t>
            </a:r>
            <a:endParaRPr lang="en-IN" dirty="0"/>
          </a:p>
        </p:txBody>
      </p:sp>
    </p:spTree>
    <p:extLst>
      <p:ext uri="{BB962C8B-B14F-4D97-AF65-F5344CB8AC3E}">
        <p14:creationId xmlns:p14="http://schemas.microsoft.com/office/powerpoint/2010/main" val="2666488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D03F8-F61E-2B37-24FD-2C825F68EA25}"/>
              </a:ext>
            </a:extLst>
          </p:cNvPr>
          <p:cNvSpPr>
            <a:spLocks noGrp="1"/>
          </p:cNvSpPr>
          <p:nvPr>
            <p:ph type="title"/>
          </p:nvPr>
        </p:nvSpPr>
        <p:spPr>
          <a:xfrm>
            <a:off x="0" y="1"/>
            <a:ext cx="12192000" cy="1030014"/>
          </a:xfrm>
        </p:spPr>
        <p:txBody>
          <a:bodyPr/>
          <a:lstStyle/>
          <a:p>
            <a:r>
              <a:rPr lang="en-IN" dirty="0">
                <a:solidFill>
                  <a:schemeClr val="accent1"/>
                </a:solidFill>
              </a:rPr>
              <a:t>References</a:t>
            </a:r>
          </a:p>
        </p:txBody>
      </p:sp>
      <p:sp>
        <p:nvSpPr>
          <p:cNvPr id="3" name="Content Placeholder 2">
            <a:extLst>
              <a:ext uri="{FF2B5EF4-FFF2-40B4-BE49-F238E27FC236}">
                <a16:creationId xmlns:a16="http://schemas.microsoft.com/office/drawing/2014/main" id="{B605B08B-9C99-0F1C-1FD0-E5F18F5BC768}"/>
              </a:ext>
            </a:extLst>
          </p:cNvPr>
          <p:cNvSpPr>
            <a:spLocks noGrp="1"/>
          </p:cNvSpPr>
          <p:nvPr>
            <p:ph idx="1"/>
          </p:nvPr>
        </p:nvSpPr>
        <p:spPr>
          <a:xfrm>
            <a:off x="0" y="1030015"/>
            <a:ext cx="11353800" cy="5146948"/>
          </a:xfrm>
        </p:spPr>
        <p:txBody>
          <a:bodyPr>
            <a:normAutofit/>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Zhou, Y., &amp; Jiang, X., “Dissecting Android Malware: Characterization and Evolution,” </a:t>
            </a:r>
            <a:r>
              <a:rPr lang="en-US" altLang="en-US" i="1" dirty="0">
                <a:latin typeface="Arial" panose="020B0604020202020204" pitchFamily="34" charset="0"/>
              </a:rPr>
              <a:t>IEEE Symposium on Security and Privacy</a:t>
            </a:r>
            <a:r>
              <a:rPr lang="en-US" altLang="en-US" dirty="0">
                <a:latin typeface="Arial" panose="020B0604020202020204" pitchFamily="34" charset="0"/>
              </a:rPr>
              <a:t>, 2012.</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Crussell, J., et al., “</a:t>
            </a:r>
            <a:r>
              <a:rPr lang="en-US" altLang="en-US" dirty="0" err="1">
                <a:latin typeface="Arial" panose="020B0604020202020204" pitchFamily="34" charset="0"/>
              </a:rPr>
              <a:t>AnDarwin</a:t>
            </a:r>
            <a:r>
              <a:rPr lang="en-US" altLang="en-US" dirty="0">
                <a:latin typeface="Arial" panose="020B0604020202020204" pitchFamily="34" charset="0"/>
              </a:rPr>
              <a:t>: Scalable Detection of Semantically Similar Android Applications,” </a:t>
            </a:r>
            <a:r>
              <a:rPr lang="en-US" altLang="en-US" i="1" dirty="0">
                <a:latin typeface="Arial" panose="020B0604020202020204" pitchFamily="34" charset="0"/>
              </a:rPr>
              <a:t>ESORICS</a:t>
            </a:r>
            <a:r>
              <a:rPr lang="en-US" altLang="en-US" dirty="0">
                <a:latin typeface="Arial" panose="020B0604020202020204" pitchFamily="34" charset="0"/>
              </a:rPr>
              <a:t>, 2013.</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Wang, P., et al., “Detecting Repackaged Android Applications Using Machine Learning,” </a:t>
            </a:r>
            <a:r>
              <a:rPr lang="en-US" altLang="en-US" i="1" dirty="0">
                <a:latin typeface="Arial" panose="020B0604020202020204" pitchFamily="34" charset="0"/>
              </a:rPr>
              <a:t>IEEE Access</a:t>
            </a:r>
            <a:r>
              <a:rPr lang="en-US" altLang="en-US" dirty="0">
                <a:latin typeface="Arial" panose="020B0604020202020204" pitchFamily="34" charset="0"/>
              </a:rPr>
              <a:t>, 2019.</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Arp, D., et al., “DREBIN: Effective and Explainable Detection of Android Malware,” </a:t>
            </a:r>
            <a:r>
              <a:rPr lang="en-US" altLang="en-US" i="1" dirty="0">
                <a:latin typeface="Arial" panose="020B0604020202020204" pitchFamily="34" charset="0"/>
              </a:rPr>
              <a:t>NDSS</a:t>
            </a:r>
            <a:r>
              <a:rPr lang="en-US" altLang="en-US" dirty="0">
                <a:latin typeface="Arial" panose="020B0604020202020204" pitchFamily="34" charset="0"/>
              </a:rPr>
              <a:t>, 2014.</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Li, L., et al., “A Large-Scale Study on Android App Repackaging,” </a:t>
            </a:r>
            <a:r>
              <a:rPr lang="en-US" altLang="en-US" i="1" dirty="0">
                <a:latin typeface="Arial" panose="020B0604020202020204" pitchFamily="34" charset="0"/>
              </a:rPr>
              <a:t>IEEE Transactions on Software Engineering</a:t>
            </a:r>
            <a:r>
              <a:rPr lang="en-US" altLang="en-US" dirty="0">
                <a:latin typeface="Arial" panose="020B0604020202020204" pitchFamily="34" charset="0"/>
              </a:rPr>
              <a:t>, 2017.</a:t>
            </a:r>
          </a:p>
          <a:p>
            <a:endParaRPr lang="en-IN" dirty="0"/>
          </a:p>
        </p:txBody>
      </p:sp>
    </p:spTree>
    <p:extLst>
      <p:ext uri="{BB962C8B-B14F-4D97-AF65-F5344CB8AC3E}">
        <p14:creationId xmlns:p14="http://schemas.microsoft.com/office/powerpoint/2010/main" val="1406771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646</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Machine Learning Enabled Stolen App Detection Framework Employing Decision Tree Models on App Metadata &amp; Behavioral Features for Proactive Security Measures  </vt:lpstr>
      <vt:lpstr>Abstract</vt:lpstr>
      <vt:lpstr>Objective</vt:lpstr>
      <vt:lpstr>Introduction</vt:lpstr>
      <vt:lpstr>Existing System</vt:lpstr>
      <vt:lpstr>Disadvantages of Existing System</vt:lpstr>
      <vt:lpstr>Proposed System</vt:lpstr>
      <vt:lpstr>Advantages of Proposed System</vt:lpstr>
      <vt:lpstr>System Architecture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manda shravani</dc:creator>
  <cp:lastModifiedBy>manda shravani</cp:lastModifiedBy>
  <cp:revision>8</cp:revision>
  <dcterms:created xsi:type="dcterms:W3CDTF">2026-01-10T05:21:47Z</dcterms:created>
  <dcterms:modified xsi:type="dcterms:W3CDTF">2026-01-10T07:19:38Z</dcterms:modified>
</cp:coreProperties>
</file>